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9" r:id="rId4"/>
    <p:sldId id="260"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 userDrawn="1">
          <p15:clr>
            <a:srgbClr val="A4A3A4"/>
          </p15:clr>
        </p15:guide>
        <p15:guide id="2" pos="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B8EA"/>
    <a:srgbClr val="DF7B53"/>
    <a:srgbClr val="A86ED4"/>
    <a:srgbClr val="FCB88E"/>
    <a:srgbClr val="C55225"/>
    <a:srgbClr val="F8DFC1"/>
    <a:srgbClr val="733D54"/>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78" d="100"/>
          <a:sy n="78" d="100"/>
        </p:scale>
        <p:origin x="878" y="67"/>
      </p:cViewPr>
      <p:guideLst>
        <p:guide orient="horz" pos="336"/>
        <p:guide pos="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1EBA-A8B8-255F-4594-78AF864E7C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B59546-A133-8A14-8DD6-7D92070829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7CC91C4-82D6-7606-A927-AB0B69DE6C48}"/>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5" name="Footer Placeholder 4">
            <a:extLst>
              <a:ext uri="{FF2B5EF4-FFF2-40B4-BE49-F238E27FC236}">
                <a16:creationId xmlns:a16="http://schemas.microsoft.com/office/drawing/2014/main" id="{604EA28E-E678-D84C-CF87-1082595A25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B533F1-B147-8040-B030-80B5076E454A}"/>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2256392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B2EA1-EA1C-A86E-FCB8-1C1848C8A0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E9F252-4F87-2E82-7A02-B82BFE2E5F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A97298-F6CE-8643-B426-BED2FAA84549}"/>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5" name="Footer Placeholder 4">
            <a:extLst>
              <a:ext uri="{FF2B5EF4-FFF2-40B4-BE49-F238E27FC236}">
                <a16:creationId xmlns:a16="http://schemas.microsoft.com/office/drawing/2014/main" id="{CBB4411F-2724-3AC7-1B81-5DED522A20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E93FBE-4B04-06C8-985D-85BF97E3BEBC}"/>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3599165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F3D32-569E-F36D-4C6E-D29B8DD0E6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CD12BD-576A-8442-6C47-B224C7B17E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4BF724-C5EE-5FB4-D878-8699297BC7A9}"/>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5" name="Footer Placeholder 4">
            <a:extLst>
              <a:ext uri="{FF2B5EF4-FFF2-40B4-BE49-F238E27FC236}">
                <a16:creationId xmlns:a16="http://schemas.microsoft.com/office/drawing/2014/main" id="{6C32F6D6-4998-246B-9B15-C6ADBC5615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3825D9-B94D-6DD5-36E1-2B25CDE5676F}"/>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4112276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5A2F-13E2-43AE-62C8-9D9794D4A9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4CDC8B-DB1C-1AC8-A831-D995A889E4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A4E979-BC62-0602-890F-AA271F068C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61F4C21-2074-757C-11A0-28CF508F69AD}"/>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6" name="Footer Placeholder 5">
            <a:extLst>
              <a:ext uri="{FF2B5EF4-FFF2-40B4-BE49-F238E27FC236}">
                <a16:creationId xmlns:a16="http://schemas.microsoft.com/office/drawing/2014/main" id="{E4B7BACA-909F-F88B-0108-A5183E822F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090701-1428-BFCF-0E73-F91C6971893C}"/>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2506784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64F1A-AD3B-9957-FBB0-96EC141E472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6E6C86-68E1-2149-778A-F93E82288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D3338-B063-F8C3-9641-D9A70377B2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73F36C-6737-8319-A941-B40357E87A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65939C-D64C-B262-B5F9-67DE186B2A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494386-7D04-5402-F5E3-482180892E4F}"/>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8" name="Footer Placeholder 7">
            <a:extLst>
              <a:ext uri="{FF2B5EF4-FFF2-40B4-BE49-F238E27FC236}">
                <a16:creationId xmlns:a16="http://schemas.microsoft.com/office/drawing/2014/main" id="{116EC94F-D39B-2919-988A-CFFA016E44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087EE8-0D73-038C-05AF-F6D9D1AD38C1}"/>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1440493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07D-B93D-140A-B922-3BBEB4294BE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85DFB86-E020-D3D9-1F69-E45DFBEB474D}"/>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4" name="Footer Placeholder 3">
            <a:extLst>
              <a:ext uri="{FF2B5EF4-FFF2-40B4-BE49-F238E27FC236}">
                <a16:creationId xmlns:a16="http://schemas.microsoft.com/office/drawing/2014/main" id="{FEDEA4A1-FC15-26AC-8C13-20B216EB68E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0C8B633-F0C8-1561-7FCE-F9896F8371BC}"/>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290026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43DDFB-E9D3-BAD9-2580-BD920E06E6B8}"/>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3" name="Footer Placeholder 2">
            <a:extLst>
              <a:ext uri="{FF2B5EF4-FFF2-40B4-BE49-F238E27FC236}">
                <a16:creationId xmlns:a16="http://schemas.microsoft.com/office/drawing/2014/main" id="{B315107E-A756-14A6-88C8-68FEFF7939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D8231AB-08A9-CDC3-4767-E2C5A202BF79}"/>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3701709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807C-7991-B05A-1071-DB112CB5FC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6AA7F37-2370-BC81-6AF3-B90040F9F0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D802D4A-526F-476A-62F3-D29F106E8D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C0DF9C-7BB2-0CC0-1318-FA62FE7A6A13}"/>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6" name="Footer Placeholder 5">
            <a:extLst>
              <a:ext uri="{FF2B5EF4-FFF2-40B4-BE49-F238E27FC236}">
                <a16:creationId xmlns:a16="http://schemas.microsoft.com/office/drawing/2014/main" id="{C7B0FC38-3E37-1F23-0177-CF80B935C3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870610-602D-68AC-6C75-2F09594321E1}"/>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3332201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6E098-8F06-F48D-93F1-A63D79D000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973479C-AFFE-9C28-B772-5E892540D4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CD40B49-30B0-5E49-A8B7-C0C171EC6A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E30B7C-AC9F-7311-427D-C8F2771681D5}"/>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6" name="Footer Placeholder 5">
            <a:extLst>
              <a:ext uri="{FF2B5EF4-FFF2-40B4-BE49-F238E27FC236}">
                <a16:creationId xmlns:a16="http://schemas.microsoft.com/office/drawing/2014/main" id="{5454E49D-1515-91DA-EFCB-4346D0E8E8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26E072-8A81-FCE6-F463-9747CDF06011}"/>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3708136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5060-3527-0FF5-B8A5-A98A3441A24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35475D-B82C-39FA-814E-25AA290E85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550E10-8D76-16B4-52FE-E66066ACAF8E}"/>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5" name="Footer Placeholder 4">
            <a:extLst>
              <a:ext uri="{FF2B5EF4-FFF2-40B4-BE49-F238E27FC236}">
                <a16:creationId xmlns:a16="http://schemas.microsoft.com/office/drawing/2014/main" id="{9E4E7D2B-C16F-464F-4D9B-BE6CEEFC58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AFADF1-AF16-F584-0AFF-5D8DBD13384A}"/>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2344349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749974-4099-2464-CF61-D0E2D77138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2C5531-CABB-80E4-84A0-67DB984467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D414BC-A946-33B5-2EDC-F96829DFD327}"/>
              </a:ext>
            </a:extLst>
          </p:cNvPr>
          <p:cNvSpPr>
            <a:spLocks noGrp="1"/>
          </p:cNvSpPr>
          <p:nvPr>
            <p:ph type="dt" sz="half" idx="10"/>
          </p:nvPr>
        </p:nvSpPr>
        <p:spPr/>
        <p:txBody>
          <a:bodyPr/>
          <a:lstStyle/>
          <a:p>
            <a:fld id="{C5D5B973-DE6E-45C0-8E85-F99AA01742CB}" type="datetimeFigureOut">
              <a:rPr lang="en-IN" smtClean="0"/>
              <a:t>28-03-2026</a:t>
            </a:fld>
            <a:endParaRPr lang="en-IN"/>
          </a:p>
        </p:txBody>
      </p:sp>
      <p:sp>
        <p:nvSpPr>
          <p:cNvPr id="5" name="Footer Placeholder 4">
            <a:extLst>
              <a:ext uri="{FF2B5EF4-FFF2-40B4-BE49-F238E27FC236}">
                <a16:creationId xmlns:a16="http://schemas.microsoft.com/office/drawing/2014/main" id="{64BAA232-1148-5B87-563A-9B2EE4B06B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6AA36A-4B80-46D0-6E01-F20E86FC1DD1}"/>
              </a:ext>
            </a:extLst>
          </p:cNvPr>
          <p:cNvSpPr>
            <a:spLocks noGrp="1"/>
          </p:cNvSpPr>
          <p:nvPr>
            <p:ph type="sldNum" sz="quarter" idx="12"/>
          </p:nvPr>
        </p:nvSpPr>
        <p:spPr/>
        <p:txBody>
          <a:bodyPr/>
          <a:lstStyle/>
          <a:p>
            <a:fld id="{F98B1D08-2CDA-4EF2-9691-22F700B64758}" type="slidenum">
              <a:rPr lang="en-IN" smtClean="0"/>
              <a:t>‹#›</a:t>
            </a:fld>
            <a:endParaRPr lang="en-IN"/>
          </a:p>
        </p:txBody>
      </p:sp>
    </p:spTree>
    <p:extLst>
      <p:ext uri="{BB962C8B-B14F-4D97-AF65-F5344CB8AC3E}">
        <p14:creationId xmlns:p14="http://schemas.microsoft.com/office/powerpoint/2010/main" val="2714784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29FDCA-BECF-2E27-9772-3540F9AEE6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85E5E7-5A70-94B0-9579-479372F125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269AB3-7A0D-A3B4-5FE3-511ECBDD6C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D5B973-DE6E-45C0-8E85-F99AA01742CB}" type="datetimeFigureOut">
              <a:rPr lang="en-IN" smtClean="0"/>
              <a:t>28-03-2026</a:t>
            </a:fld>
            <a:endParaRPr lang="en-IN"/>
          </a:p>
        </p:txBody>
      </p:sp>
      <p:sp>
        <p:nvSpPr>
          <p:cNvPr id="5" name="Footer Placeholder 4">
            <a:extLst>
              <a:ext uri="{FF2B5EF4-FFF2-40B4-BE49-F238E27FC236}">
                <a16:creationId xmlns:a16="http://schemas.microsoft.com/office/drawing/2014/main" id="{157F56A2-3CF8-1312-3A2E-C8CB230A9A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D9287E-C793-8AEB-8645-ECE39579DB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8B1D08-2CDA-4EF2-9691-22F700B64758}" type="slidenum">
              <a:rPr lang="en-IN" smtClean="0"/>
              <a:t>‹#›</a:t>
            </a:fld>
            <a:endParaRPr lang="en-IN"/>
          </a:p>
        </p:txBody>
      </p:sp>
    </p:spTree>
    <p:extLst>
      <p:ext uri="{BB962C8B-B14F-4D97-AF65-F5344CB8AC3E}">
        <p14:creationId xmlns:p14="http://schemas.microsoft.com/office/powerpoint/2010/main" val="3575338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DFC1"/>
        </a:solidFill>
        <a:effectLst/>
      </p:bgPr>
    </p:bg>
    <p:spTree>
      <p:nvGrpSpPr>
        <p:cNvPr id="1" name=""/>
        <p:cNvGrpSpPr/>
        <p:nvPr/>
      </p:nvGrpSpPr>
      <p:grpSpPr>
        <a:xfrm>
          <a:off x="0" y="0"/>
          <a:ext cx="0" cy="0"/>
          <a:chOff x="0" y="0"/>
          <a:chExt cx="0" cy="0"/>
        </a:xfrm>
      </p:grpSpPr>
      <p:pic>
        <p:nvPicPr>
          <p:cNvPr id="10" name="object 2">
            <a:extLst>
              <a:ext uri="{FF2B5EF4-FFF2-40B4-BE49-F238E27FC236}">
                <a16:creationId xmlns:a16="http://schemas.microsoft.com/office/drawing/2014/main" id="{4233D893-A3FB-904F-1295-A9687801EA75}"/>
              </a:ext>
            </a:extLst>
          </p:cNvPr>
          <p:cNvPicPr/>
          <p:nvPr/>
        </p:nvPicPr>
        <p:blipFill>
          <a:blip r:embed="rId2" cstate="print"/>
          <a:stretch>
            <a:fillRect/>
          </a:stretch>
        </p:blipFill>
        <p:spPr>
          <a:xfrm>
            <a:off x="4641448" y="1"/>
            <a:ext cx="7550553" cy="6858000"/>
          </a:xfrm>
          <a:prstGeom prst="rect">
            <a:avLst/>
          </a:prstGeom>
        </p:spPr>
      </p:pic>
      <p:sp>
        <p:nvSpPr>
          <p:cNvPr id="2" name="TextBox 1">
            <a:extLst>
              <a:ext uri="{FF2B5EF4-FFF2-40B4-BE49-F238E27FC236}">
                <a16:creationId xmlns:a16="http://schemas.microsoft.com/office/drawing/2014/main" id="{9B4345DB-75E6-F4BF-B5B2-52018CA5A8CE}"/>
              </a:ext>
            </a:extLst>
          </p:cNvPr>
          <p:cNvSpPr txBox="1"/>
          <p:nvPr/>
        </p:nvSpPr>
        <p:spPr>
          <a:xfrm>
            <a:off x="321691" y="230679"/>
            <a:ext cx="4006859" cy="523220"/>
          </a:xfrm>
          <a:prstGeom prst="rect">
            <a:avLst/>
          </a:prstGeom>
          <a:noFill/>
        </p:spPr>
        <p:txBody>
          <a:bodyPr wrap="square" rtlCol="0">
            <a:spAutoFit/>
          </a:bodyPr>
          <a:lstStyle/>
          <a:p>
            <a:pPr algn="ctr"/>
            <a:r>
              <a:rPr lang="en-US" sz="2800" b="1" dirty="0"/>
              <a:t>HEALTHCARE ANALYSIS</a:t>
            </a:r>
            <a:endParaRPr lang="en-IN" sz="2800" b="1" dirty="0"/>
          </a:p>
        </p:txBody>
      </p:sp>
    </p:spTree>
    <p:extLst>
      <p:ext uri="{BB962C8B-B14F-4D97-AF65-F5344CB8AC3E}">
        <p14:creationId xmlns:p14="http://schemas.microsoft.com/office/powerpoint/2010/main" val="2764090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C04E114D-BCC6-60E5-08C6-10894B402909}"/>
              </a:ext>
            </a:extLst>
          </p:cNvPr>
          <p:cNvSpPr/>
          <p:nvPr/>
        </p:nvSpPr>
        <p:spPr>
          <a:xfrm rot="10800000">
            <a:off x="10475167" y="46655"/>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0" name="Group 29">
            <a:extLst>
              <a:ext uri="{FF2B5EF4-FFF2-40B4-BE49-F238E27FC236}">
                <a16:creationId xmlns:a16="http://schemas.microsoft.com/office/drawing/2014/main" id="{59C6B990-A764-38C4-A304-B45B06C57D72}"/>
              </a:ext>
            </a:extLst>
          </p:cNvPr>
          <p:cNvGrpSpPr/>
          <p:nvPr/>
        </p:nvGrpSpPr>
        <p:grpSpPr>
          <a:xfrm>
            <a:off x="0" y="705072"/>
            <a:ext cx="4217436" cy="121299"/>
            <a:chOff x="0" y="703912"/>
            <a:chExt cx="4217436" cy="121299"/>
          </a:xfrm>
        </p:grpSpPr>
        <p:sp>
          <p:nvSpPr>
            <p:cNvPr id="4" name="Rectangle 3">
              <a:extLst>
                <a:ext uri="{FF2B5EF4-FFF2-40B4-BE49-F238E27FC236}">
                  <a16:creationId xmlns:a16="http://schemas.microsoft.com/office/drawing/2014/main" id="{3153C925-7FAD-18AD-73A0-A6A423864F40}"/>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C970740C-CC90-ABF7-F919-574D3A24CAD4}"/>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AC80CA9-D3F5-64B7-29F5-A29214C61506}"/>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1" name="Right Triangle 10">
            <a:extLst>
              <a:ext uri="{FF2B5EF4-FFF2-40B4-BE49-F238E27FC236}">
                <a16:creationId xmlns:a16="http://schemas.microsoft.com/office/drawing/2014/main" id="{1079A4C4-47F7-C904-92D7-B19D402258A6}"/>
              </a:ext>
            </a:extLst>
          </p:cNvPr>
          <p:cNvSpPr/>
          <p:nvPr/>
        </p:nvSpPr>
        <p:spPr>
          <a:xfrm>
            <a:off x="0" y="5169159"/>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C9C0CC38-26E0-4A4C-D192-F7A64215D607}"/>
              </a:ext>
            </a:extLst>
          </p:cNvPr>
          <p:cNvSpPr txBox="1"/>
          <p:nvPr/>
        </p:nvSpPr>
        <p:spPr>
          <a:xfrm>
            <a:off x="74644" y="205274"/>
            <a:ext cx="3652731" cy="461665"/>
          </a:xfrm>
          <a:prstGeom prst="rect">
            <a:avLst/>
          </a:prstGeom>
          <a:noFill/>
        </p:spPr>
        <p:txBody>
          <a:bodyPr wrap="none" rtlCol="0">
            <a:spAutoFit/>
          </a:bodyPr>
          <a:lstStyle/>
          <a:p>
            <a:r>
              <a:rPr lang="en-IN" sz="2400" kern="100" dirty="0">
                <a:latin typeface="Arial Black" panose="020B0A04020102020204" pitchFamily="34" charset="0"/>
              </a:rPr>
              <a:t>PROJECT SUMMARY</a:t>
            </a:r>
            <a:endParaRPr lang="en-IN" sz="2400" dirty="0">
              <a:solidFill>
                <a:schemeClr val="tx1"/>
              </a:solidFill>
              <a:latin typeface="Arial Black" panose="020B0A04020102020204" pitchFamily="34" charset="0"/>
            </a:endParaRPr>
          </a:p>
        </p:txBody>
      </p:sp>
      <p:sp>
        <p:nvSpPr>
          <p:cNvPr id="22" name="TextBox 21">
            <a:extLst>
              <a:ext uri="{FF2B5EF4-FFF2-40B4-BE49-F238E27FC236}">
                <a16:creationId xmlns:a16="http://schemas.microsoft.com/office/drawing/2014/main" id="{3CFFDE3F-FA55-6AAE-24EC-16FB0F1982BF}"/>
              </a:ext>
            </a:extLst>
          </p:cNvPr>
          <p:cNvSpPr txBox="1"/>
          <p:nvPr/>
        </p:nvSpPr>
        <p:spPr>
          <a:xfrm>
            <a:off x="358813" y="1435261"/>
            <a:ext cx="11505235" cy="4093428"/>
          </a:xfrm>
          <a:prstGeom prst="rect">
            <a:avLst/>
          </a:prstGeom>
          <a:noFill/>
        </p:spPr>
        <p:txBody>
          <a:bodyPr wrap="square" rtlCol="0">
            <a:spAutoFit/>
          </a:bodyPr>
          <a:lstStyle/>
          <a:p>
            <a:pPr marL="342900" indent="-342900">
              <a:buFont typeface="Arial" panose="020B0604020202020204" pitchFamily="34" charset="0"/>
              <a:buChar char="•"/>
            </a:pPr>
            <a:r>
              <a:rPr lang="en-US" sz="2000" b="1" i="0" u="sng" kern="1200" dirty="0"/>
              <a:t>Line Chart In MS Excel</a:t>
            </a:r>
            <a:r>
              <a:rPr lang="en-US" sz="2000" b="0" i="0" kern="1200" dirty="0"/>
              <a:t>- </a:t>
            </a:r>
            <a:r>
              <a:rPr lang="en-US" b="0" i="0" kern="1200" dirty="0"/>
              <a:t>The chart shows the trends in bad debts and charity care for California hospitals from 2016 to 2020. Both bad debts and charity care increased from 2016 to 2019, followed by a significant decline in 2020</a:t>
            </a:r>
            <a:r>
              <a:rPr lang="en-US" sz="2000" b="0" i="0" kern="1200" dirty="0"/>
              <a:t>.</a:t>
            </a:r>
            <a:endParaRPr lang="en-US" sz="2000" kern="1200" dirty="0"/>
          </a:p>
          <a:p>
            <a:pPr marL="285750" indent="-285750">
              <a:buFont typeface="Arial" panose="020B0604020202020204" pitchFamily="34" charset="0"/>
              <a:buChar char="•"/>
            </a:pPr>
            <a:endParaRPr lang="en-IN" dirty="0"/>
          </a:p>
          <a:p>
            <a:pPr marL="342900" indent="-342900">
              <a:buFont typeface="Arial" panose="020B0604020202020204" pitchFamily="34" charset="0"/>
              <a:buChar char="•"/>
            </a:pPr>
            <a:r>
              <a:rPr lang="en-IN" sz="2000" b="1" i="0" u="sng" kern="1200" dirty="0"/>
              <a:t>Pie Chart In Tableau</a:t>
            </a:r>
            <a:r>
              <a:rPr lang="en-IN" sz="2000" i="0" kern="1200" dirty="0"/>
              <a:t> - </a:t>
            </a:r>
            <a:r>
              <a:rPr lang="en-US" dirty="0"/>
              <a:t>The pie chart displays the yearly distribution of a specific metric from 2016 to 2020. The data shows a peak in 2017 with 401,977 units, followed closely by 2018 and 2019 with slightly lower values. There is a significant drop in 2020 to 177,790 units, likely influenced by global disruptions such as the COVID-19 pandemic, which had widespread impacts on various sectors.</a:t>
            </a:r>
          </a:p>
          <a:p>
            <a:pPr marL="285750" indent="-285750">
              <a:buFont typeface="Arial" panose="020B0604020202020204" pitchFamily="34" charset="0"/>
              <a:buChar char="•"/>
            </a:pPr>
            <a:endParaRPr lang="en-IN" dirty="0"/>
          </a:p>
          <a:p>
            <a:pPr marL="342900" indent="-342900">
              <a:buFont typeface="Arial" panose="020B0604020202020204" pitchFamily="34" charset="0"/>
              <a:buChar char="•"/>
            </a:pPr>
            <a:r>
              <a:rPr lang="en-US" sz="2000" b="1" i="0" u="sng" kern="1200" dirty="0"/>
              <a:t>Available Beds By Cities (Top 5) In Powerbi- </a:t>
            </a:r>
            <a:r>
              <a:rPr lang="en-US" dirty="0"/>
              <a:t>The bar chart shows the availability of hospital beds in the top 5 cities. Los Angeles leads with 103,000 available beds, followed by Oakland with 70,000, Pasadena with 60,000, San Diego with 57,000, and San Francisco with 56,000. The differences in bed availability highlight the varying capacities of healthcare infrastructure across these cities, which is crucial for managing healthcare demands, especially during events like pandemics or natural disasters.</a:t>
            </a:r>
          </a:p>
          <a:p>
            <a:pPr marL="285750" indent="-285750">
              <a:buFont typeface="Arial" panose="020B0604020202020204" pitchFamily="34" charset="0"/>
              <a:buChar char="•"/>
            </a:pPr>
            <a:endParaRPr lang="en-IN" dirty="0"/>
          </a:p>
        </p:txBody>
      </p:sp>
      <p:grpSp>
        <p:nvGrpSpPr>
          <p:cNvPr id="31" name="Group 30">
            <a:extLst>
              <a:ext uri="{FF2B5EF4-FFF2-40B4-BE49-F238E27FC236}">
                <a16:creationId xmlns:a16="http://schemas.microsoft.com/office/drawing/2014/main" id="{7E59CA27-511B-15EE-9003-ADEDA77BBFDF}"/>
              </a:ext>
            </a:extLst>
          </p:cNvPr>
          <p:cNvGrpSpPr/>
          <p:nvPr/>
        </p:nvGrpSpPr>
        <p:grpSpPr>
          <a:xfrm rot="10800000">
            <a:off x="7974564" y="-4765"/>
            <a:ext cx="4217436" cy="121299"/>
            <a:chOff x="0" y="703912"/>
            <a:chExt cx="4217436" cy="121299"/>
          </a:xfrm>
        </p:grpSpPr>
        <p:sp>
          <p:nvSpPr>
            <p:cNvPr id="32" name="Rectangle 31">
              <a:extLst>
                <a:ext uri="{FF2B5EF4-FFF2-40B4-BE49-F238E27FC236}">
                  <a16:creationId xmlns:a16="http://schemas.microsoft.com/office/drawing/2014/main" id="{A96091AC-030B-5D42-E544-E126FC207B7D}"/>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650F3F80-59BF-1C6C-8E62-9C24E0D43A10}"/>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a:extLst>
                <a:ext uri="{FF2B5EF4-FFF2-40B4-BE49-F238E27FC236}">
                  <a16:creationId xmlns:a16="http://schemas.microsoft.com/office/drawing/2014/main" id="{80EEAAD3-CE5A-AD67-492E-070EA933E494}"/>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76740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9C0CC38-26E0-4A4C-D192-F7A64215D607}"/>
              </a:ext>
            </a:extLst>
          </p:cNvPr>
          <p:cNvSpPr txBox="1"/>
          <p:nvPr/>
        </p:nvSpPr>
        <p:spPr>
          <a:xfrm>
            <a:off x="74644" y="205274"/>
            <a:ext cx="2838854" cy="461665"/>
          </a:xfrm>
          <a:prstGeom prst="rect">
            <a:avLst/>
          </a:prstGeom>
          <a:noFill/>
        </p:spPr>
        <p:txBody>
          <a:bodyPr wrap="none" rtlCol="0">
            <a:spAutoFit/>
          </a:bodyPr>
          <a:lstStyle/>
          <a:p>
            <a:r>
              <a:rPr lang="en" sz="2400" kern="100" dirty="0">
                <a:latin typeface="Arial Black" panose="020B0A04020102020204" pitchFamily="34" charset="0"/>
                <a:sym typeface="Red Hat Text Light"/>
              </a:rPr>
              <a:t>KPI’S COVERED</a:t>
            </a:r>
            <a:endParaRPr lang="en-IN" sz="2400" kern="100" dirty="0">
              <a:latin typeface="Arial Black" panose="020B0A04020102020204" pitchFamily="34" charset="0"/>
            </a:endParaRPr>
          </a:p>
        </p:txBody>
      </p:sp>
      <p:sp>
        <p:nvSpPr>
          <p:cNvPr id="23" name="TextBox 22">
            <a:extLst>
              <a:ext uri="{FF2B5EF4-FFF2-40B4-BE49-F238E27FC236}">
                <a16:creationId xmlns:a16="http://schemas.microsoft.com/office/drawing/2014/main" id="{5C3D333D-F121-C3B4-4659-5B585DE4EBD1}"/>
              </a:ext>
            </a:extLst>
          </p:cNvPr>
          <p:cNvSpPr txBox="1"/>
          <p:nvPr/>
        </p:nvSpPr>
        <p:spPr>
          <a:xfrm>
            <a:off x="8035943" y="868459"/>
            <a:ext cx="6110748" cy="54508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aseline="0" dirty="0">
                <a:effectLst/>
                <a:latin typeface="+mn-lt"/>
                <a:ea typeface="+mn-ea"/>
                <a:cs typeface="+mn-cs"/>
              </a:rPr>
              <a:t>Total Patients</a:t>
            </a:r>
          </a:p>
          <a:p>
            <a:pPr marL="285750" indent="-285750">
              <a:lnSpc>
                <a:spcPct val="150000"/>
              </a:lnSpc>
              <a:buFont typeface="Arial" panose="020B0604020202020204" pitchFamily="34" charset="0"/>
              <a:buChar char="•"/>
            </a:pPr>
            <a:r>
              <a:rPr lang="en-US" baseline="0" dirty="0">
                <a:effectLst/>
                <a:latin typeface="+mn-lt"/>
                <a:ea typeface="+mn-ea"/>
                <a:cs typeface="+mn-cs"/>
              </a:rPr>
              <a:t>Total Hospitals</a:t>
            </a:r>
          </a:p>
          <a:p>
            <a:pPr marL="285750" indent="-285750">
              <a:lnSpc>
                <a:spcPct val="150000"/>
              </a:lnSpc>
              <a:buFont typeface="Arial" panose="020B0604020202020204" pitchFamily="34" charset="0"/>
              <a:buChar char="•"/>
            </a:pPr>
            <a:r>
              <a:rPr lang="en-US" baseline="0" dirty="0">
                <a:effectLst/>
                <a:latin typeface="+mn-lt"/>
                <a:ea typeface="+mn-ea"/>
                <a:cs typeface="+mn-cs"/>
              </a:rPr>
              <a:t>Total Patient Stays</a:t>
            </a:r>
          </a:p>
          <a:p>
            <a:pPr marL="285750" indent="-285750">
              <a:lnSpc>
                <a:spcPct val="150000"/>
              </a:lnSpc>
              <a:buFont typeface="Arial" panose="020B0604020202020204" pitchFamily="34" charset="0"/>
              <a:buChar char="•"/>
            </a:pPr>
            <a:r>
              <a:rPr lang="en-US" dirty="0">
                <a:effectLst/>
                <a:latin typeface="+mn-lt"/>
                <a:ea typeface="+mn-ea"/>
                <a:cs typeface="+mn-cs"/>
              </a:rPr>
              <a:t>Total Discharges</a:t>
            </a:r>
          </a:p>
          <a:p>
            <a:pPr marL="285750" indent="-285750">
              <a:lnSpc>
                <a:spcPct val="150000"/>
              </a:lnSpc>
              <a:buFont typeface="Arial" panose="020B0604020202020204" pitchFamily="34" charset="0"/>
              <a:buChar char="•"/>
            </a:pPr>
            <a:r>
              <a:rPr lang="fr-FR" dirty="0">
                <a:effectLst/>
                <a:latin typeface="+mn-lt"/>
                <a:ea typeface="+mn-ea"/>
                <a:cs typeface="+mn-cs"/>
              </a:rPr>
              <a:t>Net Patient Revenue</a:t>
            </a:r>
          </a:p>
          <a:p>
            <a:pPr marL="285750" indent="-285750">
              <a:lnSpc>
                <a:spcPct val="150000"/>
              </a:lnSpc>
              <a:buFont typeface="Arial" panose="020B0604020202020204" pitchFamily="34" charset="0"/>
              <a:buChar char="•"/>
            </a:pPr>
            <a:r>
              <a:rPr lang="fr-FR" dirty="0"/>
              <a:t>Total Bad Debt</a:t>
            </a:r>
          </a:p>
          <a:p>
            <a:pPr marL="285750" indent="-285750">
              <a:lnSpc>
                <a:spcPct val="150000"/>
              </a:lnSpc>
              <a:buFont typeface="Arial" panose="020B0604020202020204" pitchFamily="34" charset="0"/>
              <a:buChar char="•"/>
            </a:pPr>
            <a:r>
              <a:rPr lang="fr-FR" dirty="0">
                <a:effectLst/>
                <a:latin typeface="+mn-lt"/>
                <a:ea typeface="+mn-ea"/>
                <a:cs typeface="+mn-cs"/>
              </a:rPr>
              <a:t>Bad Debt By Year </a:t>
            </a:r>
          </a:p>
          <a:p>
            <a:pPr marL="285750" indent="-285750">
              <a:lnSpc>
                <a:spcPct val="150000"/>
              </a:lnSpc>
              <a:buFont typeface="Arial" panose="020B0604020202020204" pitchFamily="34" charset="0"/>
              <a:buChar char="•"/>
            </a:pPr>
            <a:r>
              <a:rPr lang="fr-FR" dirty="0"/>
              <a:t>Total Revenue By City</a:t>
            </a:r>
          </a:p>
          <a:p>
            <a:pPr marL="285750" indent="-285750">
              <a:lnSpc>
                <a:spcPct val="150000"/>
              </a:lnSpc>
              <a:buFont typeface="Arial" panose="020B0604020202020204" pitchFamily="34" charset="0"/>
              <a:buChar char="•"/>
            </a:pPr>
            <a:r>
              <a:rPr lang="fr-FR" dirty="0">
                <a:effectLst/>
                <a:latin typeface="+mn-lt"/>
                <a:ea typeface="+mn-ea"/>
                <a:cs typeface="+mn-cs"/>
              </a:rPr>
              <a:t>Revenue Trend By Year</a:t>
            </a:r>
          </a:p>
          <a:p>
            <a:pPr marL="285750" indent="-285750">
              <a:lnSpc>
                <a:spcPct val="150000"/>
              </a:lnSpc>
              <a:buFont typeface="Arial" panose="020B0604020202020204" pitchFamily="34" charset="0"/>
              <a:buChar char="•"/>
            </a:pPr>
            <a:r>
              <a:rPr lang="fr-FR" dirty="0"/>
              <a:t>Revenue By Type Of Hospital</a:t>
            </a:r>
          </a:p>
          <a:p>
            <a:pPr marL="285750" indent="-285750">
              <a:lnSpc>
                <a:spcPct val="150000"/>
              </a:lnSpc>
              <a:buFont typeface="Arial" panose="020B0604020202020204" pitchFamily="34" charset="0"/>
              <a:buChar char="•"/>
            </a:pPr>
            <a:r>
              <a:rPr lang="fr-FR" dirty="0">
                <a:effectLst/>
                <a:latin typeface="+mn-lt"/>
                <a:ea typeface="+mn-ea"/>
                <a:cs typeface="+mn-cs"/>
              </a:rPr>
              <a:t>Total Expenses</a:t>
            </a:r>
          </a:p>
          <a:p>
            <a:pPr marL="285750" indent="-285750">
              <a:lnSpc>
                <a:spcPct val="150000"/>
              </a:lnSpc>
              <a:buFont typeface="Arial" panose="020B0604020202020204" pitchFamily="34" charset="0"/>
              <a:buChar char="•"/>
            </a:pPr>
            <a:r>
              <a:rPr lang="fr-FR" dirty="0"/>
              <a:t>Margin By City</a:t>
            </a:r>
          </a:p>
          <a:p>
            <a:pPr marL="285750" indent="-285750">
              <a:lnSpc>
                <a:spcPct val="150000"/>
              </a:lnSpc>
              <a:buFont typeface="Arial" panose="020B0604020202020204" pitchFamily="34" charset="0"/>
              <a:buChar char="•"/>
            </a:pPr>
            <a:endParaRPr lang="fr-FR" dirty="0">
              <a:effectLst/>
              <a:latin typeface="+mn-lt"/>
              <a:ea typeface="+mn-ea"/>
              <a:cs typeface="+mn-cs"/>
            </a:endParaRPr>
          </a:p>
        </p:txBody>
      </p:sp>
      <p:sp>
        <p:nvSpPr>
          <p:cNvPr id="13" name="TextBox 12">
            <a:extLst>
              <a:ext uri="{FF2B5EF4-FFF2-40B4-BE49-F238E27FC236}">
                <a16:creationId xmlns:a16="http://schemas.microsoft.com/office/drawing/2014/main" id="{5277613B-8467-0A18-9677-2AB7F9ED7EEC}"/>
              </a:ext>
            </a:extLst>
          </p:cNvPr>
          <p:cNvSpPr txBox="1"/>
          <p:nvPr/>
        </p:nvSpPr>
        <p:spPr>
          <a:xfrm>
            <a:off x="452240" y="868460"/>
            <a:ext cx="7349097" cy="545085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fr-FR" dirty="0">
                <a:effectLst/>
                <a:latin typeface="+mn-lt"/>
                <a:ea typeface="+mn-ea"/>
                <a:cs typeface="+mn-cs"/>
              </a:rPr>
              <a:t>State Wise Revenue</a:t>
            </a:r>
          </a:p>
          <a:p>
            <a:pPr marL="285750" indent="-285750">
              <a:lnSpc>
                <a:spcPct val="150000"/>
              </a:lnSpc>
              <a:buFont typeface="Arial" panose="020B0604020202020204" pitchFamily="34" charset="0"/>
              <a:buChar char="•"/>
            </a:pPr>
            <a:r>
              <a:rPr lang="fr-FR" dirty="0"/>
              <a:t>Top 5 City By Revenue</a:t>
            </a:r>
          </a:p>
          <a:p>
            <a:pPr marL="285750" indent="-285750">
              <a:lnSpc>
                <a:spcPct val="150000"/>
              </a:lnSpc>
              <a:buFont typeface="Arial" panose="020B0604020202020204" pitchFamily="34" charset="0"/>
              <a:buChar char="•"/>
            </a:pPr>
            <a:r>
              <a:rPr lang="fr-FR" dirty="0">
                <a:effectLst/>
                <a:latin typeface="+mn-lt"/>
                <a:ea typeface="+mn-ea"/>
                <a:cs typeface="+mn-cs"/>
              </a:rPr>
              <a:t>Type Of Ownership By Revenue</a:t>
            </a:r>
          </a:p>
          <a:p>
            <a:pPr marL="285750" indent="-285750">
              <a:lnSpc>
                <a:spcPct val="150000"/>
              </a:lnSpc>
              <a:buFont typeface="Arial" panose="020B0604020202020204" pitchFamily="34" charset="0"/>
              <a:buChar char="•"/>
            </a:pPr>
            <a:r>
              <a:rPr lang="fr-FR" dirty="0"/>
              <a:t>Top 5 County With Highest Count Of Hospital</a:t>
            </a:r>
          </a:p>
          <a:p>
            <a:pPr marL="285750" indent="-285750">
              <a:lnSpc>
                <a:spcPct val="150000"/>
              </a:lnSpc>
              <a:buFont typeface="Arial" panose="020B0604020202020204" pitchFamily="34" charset="0"/>
              <a:buChar char="•"/>
            </a:pPr>
            <a:r>
              <a:rPr lang="fr-FR" dirty="0">
                <a:effectLst/>
                <a:latin typeface="+mn-lt"/>
                <a:ea typeface="+mn-ea"/>
                <a:cs typeface="+mn-cs"/>
              </a:rPr>
              <a:t>Total Net Patient Revenue By Year</a:t>
            </a:r>
          </a:p>
          <a:p>
            <a:pPr marL="285750" indent="-285750">
              <a:lnSpc>
                <a:spcPct val="150000"/>
              </a:lnSpc>
              <a:buFont typeface="Arial" panose="020B0604020202020204" pitchFamily="34" charset="0"/>
              <a:buChar char="•"/>
            </a:pPr>
            <a:r>
              <a:rPr lang="fr-FR" dirty="0"/>
              <a:t>Available Beds Over The Year</a:t>
            </a:r>
          </a:p>
          <a:p>
            <a:pPr marL="285750" indent="-285750">
              <a:lnSpc>
                <a:spcPct val="150000"/>
              </a:lnSpc>
              <a:buFont typeface="Arial" panose="020B0604020202020204" pitchFamily="34" charset="0"/>
              <a:buChar char="•"/>
            </a:pPr>
            <a:r>
              <a:rPr lang="fr-FR" dirty="0">
                <a:effectLst/>
                <a:latin typeface="+mn-lt"/>
                <a:ea typeface="+mn-ea"/>
                <a:cs typeface="+mn-cs"/>
              </a:rPr>
              <a:t>Number Of California Hospital Discharges By Payer Source</a:t>
            </a:r>
          </a:p>
          <a:p>
            <a:pPr marL="285750" indent="-285750">
              <a:lnSpc>
                <a:spcPct val="150000"/>
              </a:lnSpc>
              <a:buFont typeface="Arial" panose="020B0604020202020204" pitchFamily="34" charset="0"/>
              <a:buChar char="•"/>
            </a:pPr>
            <a:r>
              <a:rPr lang="fr-FR" dirty="0"/>
              <a:t>Year Wise Expenses</a:t>
            </a:r>
          </a:p>
          <a:p>
            <a:pPr marL="285750" indent="-285750">
              <a:lnSpc>
                <a:spcPct val="150000"/>
              </a:lnSpc>
              <a:buFont typeface="Arial" panose="020B0604020202020204" pitchFamily="34" charset="0"/>
              <a:buChar char="•"/>
            </a:pPr>
            <a:r>
              <a:rPr lang="fr-FR" dirty="0">
                <a:effectLst/>
                <a:latin typeface="+mn-lt"/>
                <a:ea typeface="+mn-ea"/>
                <a:cs typeface="+mn-cs"/>
              </a:rPr>
              <a:t>Percentage Of California Hospital Patient Days By Payer Source</a:t>
            </a:r>
          </a:p>
          <a:p>
            <a:pPr marL="285750" indent="-285750">
              <a:lnSpc>
                <a:spcPct val="150000"/>
              </a:lnSpc>
              <a:buFont typeface="Arial" panose="020B0604020202020204" pitchFamily="34" charset="0"/>
              <a:buChar char="•"/>
            </a:pPr>
            <a:r>
              <a:rPr lang="fr-FR" dirty="0"/>
              <a:t>Change In The Number Of California Hospital Discharges By Payer Source</a:t>
            </a:r>
          </a:p>
          <a:p>
            <a:pPr marL="285750" indent="-285750">
              <a:lnSpc>
                <a:spcPct val="150000"/>
              </a:lnSpc>
              <a:buFont typeface="Arial" panose="020B0604020202020204" pitchFamily="34" charset="0"/>
              <a:buChar char="•"/>
            </a:pPr>
            <a:r>
              <a:rPr lang="fr-FR" dirty="0"/>
              <a:t>California Hospital Net Patient Revenue By Payer </a:t>
            </a:r>
          </a:p>
          <a:p>
            <a:pPr marL="285750" indent="-285750">
              <a:lnSpc>
                <a:spcPct val="150000"/>
              </a:lnSpc>
              <a:buFont typeface="Arial" panose="020B0604020202020204" pitchFamily="34" charset="0"/>
              <a:buChar char="•"/>
            </a:pPr>
            <a:r>
              <a:rPr lang="fr-FR" dirty="0"/>
              <a:t>Trends In California Hospital Bad Debts And Charity</a:t>
            </a:r>
          </a:p>
          <a:p>
            <a:pPr marL="285750" indent="-285750">
              <a:lnSpc>
                <a:spcPct val="150000"/>
              </a:lnSpc>
              <a:buFont typeface="Arial" panose="020B0604020202020204" pitchFamily="34" charset="0"/>
              <a:buChar char="•"/>
            </a:pPr>
            <a:endParaRPr lang="en-IN" dirty="0"/>
          </a:p>
        </p:txBody>
      </p:sp>
      <p:sp>
        <p:nvSpPr>
          <p:cNvPr id="14" name="Right Triangle 13">
            <a:extLst>
              <a:ext uri="{FF2B5EF4-FFF2-40B4-BE49-F238E27FC236}">
                <a16:creationId xmlns:a16="http://schemas.microsoft.com/office/drawing/2014/main" id="{BDCEF30F-2AE9-84E7-4BF3-53C48D59EF15}"/>
              </a:ext>
            </a:extLst>
          </p:cNvPr>
          <p:cNvSpPr/>
          <p:nvPr/>
        </p:nvSpPr>
        <p:spPr>
          <a:xfrm rot="10800000">
            <a:off x="10475167" y="46655"/>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ight Triangle 14">
            <a:extLst>
              <a:ext uri="{FF2B5EF4-FFF2-40B4-BE49-F238E27FC236}">
                <a16:creationId xmlns:a16="http://schemas.microsoft.com/office/drawing/2014/main" id="{942045DB-E9FA-7BA2-15FA-9056E856BE4D}"/>
              </a:ext>
            </a:extLst>
          </p:cNvPr>
          <p:cNvSpPr/>
          <p:nvPr/>
        </p:nvSpPr>
        <p:spPr>
          <a:xfrm>
            <a:off x="0" y="5169159"/>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6" name="Group 15">
            <a:extLst>
              <a:ext uri="{FF2B5EF4-FFF2-40B4-BE49-F238E27FC236}">
                <a16:creationId xmlns:a16="http://schemas.microsoft.com/office/drawing/2014/main" id="{B1CBB224-FA83-9015-E106-70C28F0CEE3B}"/>
              </a:ext>
            </a:extLst>
          </p:cNvPr>
          <p:cNvGrpSpPr/>
          <p:nvPr/>
        </p:nvGrpSpPr>
        <p:grpSpPr>
          <a:xfrm>
            <a:off x="5159" y="746660"/>
            <a:ext cx="4217436" cy="121299"/>
            <a:chOff x="0" y="703912"/>
            <a:chExt cx="4217436" cy="121299"/>
          </a:xfrm>
        </p:grpSpPr>
        <p:sp>
          <p:nvSpPr>
            <p:cNvPr id="17" name="Rectangle 16">
              <a:extLst>
                <a:ext uri="{FF2B5EF4-FFF2-40B4-BE49-F238E27FC236}">
                  <a16:creationId xmlns:a16="http://schemas.microsoft.com/office/drawing/2014/main" id="{183364FF-E5D9-4970-06AE-8F772956E2E5}"/>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76764547-F55E-9A23-02B0-9B19569540D7}"/>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FD4C4DE4-1188-85E7-885D-EBB49490C8DE}"/>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0" name="Group 19">
            <a:extLst>
              <a:ext uri="{FF2B5EF4-FFF2-40B4-BE49-F238E27FC236}">
                <a16:creationId xmlns:a16="http://schemas.microsoft.com/office/drawing/2014/main" id="{DE224CE2-6B42-C71A-F487-667C2AB941A3}"/>
              </a:ext>
            </a:extLst>
          </p:cNvPr>
          <p:cNvGrpSpPr/>
          <p:nvPr/>
        </p:nvGrpSpPr>
        <p:grpSpPr>
          <a:xfrm rot="10800000">
            <a:off x="7968148" y="355"/>
            <a:ext cx="4217436" cy="121299"/>
            <a:chOff x="0" y="703912"/>
            <a:chExt cx="4217436" cy="121299"/>
          </a:xfrm>
        </p:grpSpPr>
        <p:sp>
          <p:nvSpPr>
            <p:cNvPr id="21" name="Rectangle 20">
              <a:extLst>
                <a:ext uri="{FF2B5EF4-FFF2-40B4-BE49-F238E27FC236}">
                  <a16:creationId xmlns:a16="http://schemas.microsoft.com/office/drawing/2014/main" id="{F2C39CA8-BD42-457B-CD0F-B43F9A3A1100}"/>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0B8F7063-B789-E135-3889-20B87A835830}"/>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69079B4B-1060-6981-561F-95D42125BED6}"/>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634168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ight Triangle 30">
            <a:extLst>
              <a:ext uri="{FF2B5EF4-FFF2-40B4-BE49-F238E27FC236}">
                <a16:creationId xmlns:a16="http://schemas.microsoft.com/office/drawing/2014/main" id="{531EE730-2C4D-59BA-81DA-B89E769DE188}"/>
              </a:ext>
            </a:extLst>
          </p:cNvPr>
          <p:cNvSpPr/>
          <p:nvPr/>
        </p:nvSpPr>
        <p:spPr>
          <a:xfrm rot="10800000">
            <a:off x="10475167" y="46655"/>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ight Triangle 31">
            <a:extLst>
              <a:ext uri="{FF2B5EF4-FFF2-40B4-BE49-F238E27FC236}">
                <a16:creationId xmlns:a16="http://schemas.microsoft.com/office/drawing/2014/main" id="{220DAF10-55B7-D402-60C2-3752B5DE5CE4}"/>
              </a:ext>
            </a:extLst>
          </p:cNvPr>
          <p:cNvSpPr/>
          <p:nvPr/>
        </p:nvSpPr>
        <p:spPr>
          <a:xfrm>
            <a:off x="0" y="5169159"/>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C9C0CC38-26E0-4A4C-D192-F7A64215D607}"/>
              </a:ext>
            </a:extLst>
          </p:cNvPr>
          <p:cNvSpPr txBox="1"/>
          <p:nvPr/>
        </p:nvSpPr>
        <p:spPr>
          <a:xfrm>
            <a:off x="74644" y="205274"/>
            <a:ext cx="3550396" cy="461665"/>
          </a:xfrm>
          <a:prstGeom prst="rect">
            <a:avLst/>
          </a:prstGeom>
          <a:noFill/>
        </p:spPr>
        <p:txBody>
          <a:bodyPr wrap="none" rtlCol="0">
            <a:spAutoFit/>
          </a:bodyPr>
          <a:lstStyle/>
          <a:p>
            <a:r>
              <a:rPr lang="en" sz="2400" kern="100" dirty="0">
                <a:latin typeface="Arial Black" panose="020B0A04020102020204" pitchFamily="34" charset="0"/>
                <a:sym typeface="Red Hat Text Light"/>
              </a:rPr>
              <a:t>EXCEL DASHBOARD</a:t>
            </a:r>
            <a:endParaRPr lang="en-IN" sz="2400" kern="100" dirty="0">
              <a:latin typeface="Arial Black" panose="020B0A04020102020204" pitchFamily="34" charset="0"/>
            </a:endParaRPr>
          </a:p>
        </p:txBody>
      </p:sp>
      <p:pic>
        <p:nvPicPr>
          <p:cNvPr id="14" name="Content Placeholder 4">
            <a:extLst>
              <a:ext uri="{FF2B5EF4-FFF2-40B4-BE49-F238E27FC236}">
                <a16:creationId xmlns:a16="http://schemas.microsoft.com/office/drawing/2014/main" id="{E38E8DC0-0A45-468C-FDC5-BC9C5479E8C1}"/>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4064" y="994157"/>
            <a:ext cx="11207191" cy="5658569"/>
          </a:xfrm>
          <a:prstGeom prst="rect">
            <a:avLst/>
          </a:prstGeom>
        </p:spPr>
      </p:pic>
      <p:grpSp>
        <p:nvGrpSpPr>
          <p:cNvPr id="17" name="Group 16">
            <a:extLst>
              <a:ext uri="{FF2B5EF4-FFF2-40B4-BE49-F238E27FC236}">
                <a16:creationId xmlns:a16="http://schemas.microsoft.com/office/drawing/2014/main" id="{B79CFF8E-45DE-99BE-ADD7-F8129219F435}"/>
              </a:ext>
            </a:extLst>
          </p:cNvPr>
          <p:cNvGrpSpPr/>
          <p:nvPr/>
        </p:nvGrpSpPr>
        <p:grpSpPr>
          <a:xfrm>
            <a:off x="4699322" y="1016427"/>
            <a:ext cx="4861367" cy="461665"/>
            <a:chOff x="4699322" y="1352097"/>
            <a:chExt cx="4861367" cy="461665"/>
          </a:xfrm>
        </p:grpSpPr>
        <p:sp>
          <p:nvSpPr>
            <p:cNvPr id="15" name="Rectangle 14">
              <a:extLst>
                <a:ext uri="{FF2B5EF4-FFF2-40B4-BE49-F238E27FC236}">
                  <a16:creationId xmlns:a16="http://schemas.microsoft.com/office/drawing/2014/main" id="{6CC07573-938B-D4A6-44A7-E243FCFD7221}"/>
                </a:ext>
              </a:extLst>
            </p:cNvPr>
            <p:cNvSpPr/>
            <p:nvPr/>
          </p:nvSpPr>
          <p:spPr>
            <a:xfrm>
              <a:off x="5497975" y="1373109"/>
              <a:ext cx="4062714" cy="362387"/>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3EB22752-70A0-EB98-B908-74EBE281B2BD}"/>
                </a:ext>
              </a:extLst>
            </p:cNvPr>
            <p:cNvSpPr txBox="1"/>
            <p:nvPr/>
          </p:nvSpPr>
          <p:spPr>
            <a:xfrm>
              <a:off x="4699322" y="1352097"/>
              <a:ext cx="3703898" cy="461665"/>
            </a:xfrm>
            <a:prstGeom prst="rect">
              <a:avLst/>
            </a:prstGeom>
            <a:noFill/>
          </p:spPr>
          <p:txBody>
            <a:bodyPr wrap="square" rtlCol="0">
              <a:spAutoFit/>
            </a:bodyPr>
            <a:lstStyle/>
            <a:p>
              <a:r>
                <a:rPr lang="en-US" sz="2400" b="1" dirty="0"/>
                <a:t>Hospital Data Dashboard</a:t>
              </a:r>
              <a:endParaRPr lang="en-IN" sz="2400" b="1" dirty="0"/>
            </a:p>
          </p:txBody>
        </p:sp>
      </p:grpSp>
      <p:grpSp>
        <p:nvGrpSpPr>
          <p:cNvPr id="33" name="Group 32">
            <a:extLst>
              <a:ext uri="{FF2B5EF4-FFF2-40B4-BE49-F238E27FC236}">
                <a16:creationId xmlns:a16="http://schemas.microsoft.com/office/drawing/2014/main" id="{82ABB8FB-064B-96CB-CAE6-5E2EAF983B2A}"/>
              </a:ext>
            </a:extLst>
          </p:cNvPr>
          <p:cNvGrpSpPr/>
          <p:nvPr/>
        </p:nvGrpSpPr>
        <p:grpSpPr>
          <a:xfrm>
            <a:off x="5159" y="746660"/>
            <a:ext cx="4217436" cy="121299"/>
            <a:chOff x="0" y="703912"/>
            <a:chExt cx="4217436" cy="121299"/>
          </a:xfrm>
        </p:grpSpPr>
        <p:sp>
          <p:nvSpPr>
            <p:cNvPr id="34" name="Rectangle 33">
              <a:extLst>
                <a:ext uri="{FF2B5EF4-FFF2-40B4-BE49-F238E27FC236}">
                  <a16:creationId xmlns:a16="http://schemas.microsoft.com/office/drawing/2014/main" id="{0AA7C35A-7D4C-492E-AB9F-50456441F883}"/>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A290ADEF-F469-01AF-F8C8-92FA121D7625}"/>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2A11BE57-CC0D-464C-AFDB-707D77AFC214}"/>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7" name="Group 36">
            <a:extLst>
              <a:ext uri="{FF2B5EF4-FFF2-40B4-BE49-F238E27FC236}">
                <a16:creationId xmlns:a16="http://schemas.microsoft.com/office/drawing/2014/main" id="{860E2B00-F3D3-5027-DECF-4F46A49C7D9B}"/>
              </a:ext>
            </a:extLst>
          </p:cNvPr>
          <p:cNvGrpSpPr/>
          <p:nvPr/>
        </p:nvGrpSpPr>
        <p:grpSpPr>
          <a:xfrm rot="10800000">
            <a:off x="7968148" y="355"/>
            <a:ext cx="4217436" cy="121299"/>
            <a:chOff x="0" y="703912"/>
            <a:chExt cx="4217436" cy="121299"/>
          </a:xfrm>
        </p:grpSpPr>
        <p:sp>
          <p:nvSpPr>
            <p:cNvPr id="38" name="Rectangle 37">
              <a:extLst>
                <a:ext uri="{FF2B5EF4-FFF2-40B4-BE49-F238E27FC236}">
                  <a16:creationId xmlns:a16="http://schemas.microsoft.com/office/drawing/2014/main" id="{13FC043D-EAC9-B97C-87C9-8CAD17DB5759}"/>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38">
              <a:extLst>
                <a:ext uri="{FF2B5EF4-FFF2-40B4-BE49-F238E27FC236}">
                  <a16:creationId xmlns:a16="http://schemas.microsoft.com/office/drawing/2014/main" id="{89810C09-2AEE-C0EA-165C-0CEF2C2BC8E7}"/>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67F7911C-3C15-8BE1-442E-11F062DC504F}"/>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801009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ight Triangle 20">
            <a:extLst>
              <a:ext uri="{FF2B5EF4-FFF2-40B4-BE49-F238E27FC236}">
                <a16:creationId xmlns:a16="http://schemas.microsoft.com/office/drawing/2014/main" id="{C026914A-EFEB-387C-18A5-5ABB23DED3B3}"/>
              </a:ext>
            </a:extLst>
          </p:cNvPr>
          <p:cNvSpPr/>
          <p:nvPr/>
        </p:nvSpPr>
        <p:spPr>
          <a:xfrm rot="10800000">
            <a:off x="10475167" y="56487"/>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ight Triangle 21">
            <a:extLst>
              <a:ext uri="{FF2B5EF4-FFF2-40B4-BE49-F238E27FC236}">
                <a16:creationId xmlns:a16="http://schemas.microsoft.com/office/drawing/2014/main" id="{CF189383-6B38-0BEC-B69B-D9F570F520CC}"/>
              </a:ext>
            </a:extLst>
          </p:cNvPr>
          <p:cNvSpPr/>
          <p:nvPr/>
        </p:nvSpPr>
        <p:spPr>
          <a:xfrm>
            <a:off x="0" y="5169159"/>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C9C0CC38-26E0-4A4C-D192-F7A64215D607}"/>
              </a:ext>
            </a:extLst>
          </p:cNvPr>
          <p:cNvSpPr txBox="1"/>
          <p:nvPr/>
        </p:nvSpPr>
        <p:spPr>
          <a:xfrm>
            <a:off x="74644" y="205274"/>
            <a:ext cx="4137543" cy="461665"/>
          </a:xfrm>
          <a:prstGeom prst="rect">
            <a:avLst/>
          </a:prstGeom>
          <a:noFill/>
        </p:spPr>
        <p:txBody>
          <a:bodyPr wrap="none" rtlCol="0">
            <a:spAutoFit/>
          </a:bodyPr>
          <a:lstStyle/>
          <a:p>
            <a:r>
              <a:rPr lang="en" sz="2400" kern="100" dirty="0">
                <a:latin typeface="Arial Black" panose="020B0A04020102020204" pitchFamily="34" charset="0"/>
                <a:sym typeface="Red Hat Text Light"/>
              </a:rPr>
              <a:t>POWER BI DASHBOARD</a:t>
            </a:r>
            <a:endParaRPr lang="en-IN" sz="2400" kern="100" dirty="0">
              <a:latin typeface="Arial Black" panose="020B0A04020102020204" pitchFamily="34" charset="0"/>
            </a:endParaRPr>
          </a:p>
        </p:txBody>
      </p:sp>
      <p:pic>
        <p:nvPicPr>
          <p:cNvPr id="20" name="Picture 19">
            <a:extLst>
              <a:ext uri="{FF2B5EF4-FFF2-40B4-BE49-F238E27FC236}">
                <a16:creationId xmlns:a16="http://schemas.microsoft.com/office/drawing/2014/main" id="{6EB3333D-3D41-358F-6A2A-AEB310991A9C}"/>
              </a:ext>
            </a:extLst>
          </p:cNvPr>
          <p:cNvPicPr>
            <a:picLocks noChangeAspect="1"/>
          </p:cNvPicPr>
          <p:nvPr/>
        </p:nvPicPr>
        <p:blipFill>
          <a:blip r:embed="rId2"/>
          <a:stretch>
            <a:fillRect/>
          </a:stretch>
        </p:blipFill>
        <p:spPr>
          <a:xfrm>
            <a:off x="504064" y="994158"/>
            <a:ext cx="11207191" cy="5658568"/>
          </a:xfrm>
          <a:prstGeom prst="rect">
            <a:avLst/>
          </a:prstGeom>
        </p:spPr>
      </p:pic>
      <p:grpSp>
        <p:nvGrpSpPr>
          <p:cNvPr id="23" name="Group 22">
            <a:extLst>
              <a:ext uri="{FF2B5EF4-FFF2-40B4-BE49-F238E27FC236}">
                <a16:creationId xmlns:a16="http://schemas.microsoft.com/office/drawing/2014/main" id="{62FBEFC5-B450-EAFF-AF35-5C80775241C8}"/>
              </a:ext>
            </a:extLst>
          </p:cNvPr>
          <p:cNvGrpSpPr/>
          <p:nvPr/>
        </p:nvGrpSpPr>
        <p:grpSpPr>
          <a:xfrm>
            <a:off x="5159" y="746660"/>
            <a:ext cx="4217436" cy="121299"/>
            <a:chOff x="0" y="703912"/>
            <a:chExt cx="4217436" cy="121299"/>
          </a:xfrm>
        </p:grpSpPr>
        <p:sp>
          <p:nvSpPr>
            <p:cNvPr id="24" name="Rectangle 23">
              <a:extLst>
                <a:ext uri="{FF2B5EF4-FFF2-40B4-BE49-F238E27FC236}">
                  <a16:creationId xmlns:a16="http://schemas.microsoft.com/office/drawing/2014/main" id="{8C2E110B-29EA-0EE7-82A8-CAAAE553856C}"/>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B0E88D67-8CEA-0EE9-53D2-E73996BB2BCD}"/>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C10E6B5C-91CB-787E-A495-7B5DED0270C0}"/>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7" name="Group 26">
            <a:extLst>
              <a:ext uri="{FF2B5EF4-FFF2-40B4-BE49-F238E27FC236}">
                <a16:creationId xmlns:a16="http://schemas.microsoft.com/office/drawing/2014/main" id="{6F47F1BE-495C-96E9-003C-91D5ABE6DFC3}"/>
              </a:ext>
            </a:extLst>
          </p:cNvPr>
          <p:cNvGrpSpPr/>
          <p:nvPr/>
        </p:nvGrpSpPr>
        <p:grpSpPr>
          <a:xfrm rot="10800000">
            <a:off x="7968148" y="355"/>
            <a:ext cx="4217436" cy="121299"/>
            <a:chOff x="0" y="703912"/>
            <a:chExt cx="4217436" cy="121299"/>
          </a:xfrm>
        </p:grpSpPr>
        <p:sp>
          <p:nvSpPr>
            <p:cNvPr id="28" name="Rectangle 27">
              <a:extLst>
                <a:ext uri="{FF2B5EF4-FFF2-40B4-BE49-F238E27FC236}">
                  <a16:creationId xmlns:a16="http://schemas.microsoft.com/office/drawing/2014/main" id="{9990CBAE-CE29-4D1D-F813-8F341338B285}"/>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Rectangle 28">
              <a:extLst>
                <a:ext uri="{FF2B5EF4-FFF2-40B4-BE49-F238E27FC236}">
                  <a16:creationId xmlns:a16="http://schemas.microsoft.com/office/drawing/2014/main" id="{E7A8DE9C-D772-E009-9B61-3C90D1421D7A}"/>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373EEB45-8CD6-D4B1-A2BC-22DCF0D71151}"/>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59987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ight Triangle 14">
            <a:extLst>
              <a:ext uri="{FF2B5EF4-FFF2-40B4-BE49-F238E27FC236}">
                <a16:creationId xmlns:a16="http://schemas.microsoft.com/office/drawing/2014/main" id="{FC3159D0-8F89-0E0F-C189-027F7C80B6FB}"/>
              </a:ext>
            </a:extLst>
          </p:cNvPr>
          <p:cNvSpPr/>
          <p:nvPr/>
        </p:nvSpPr>
        <p:spPr>
          <a:xfrm rot="10800000">
            <a:off x="10475167" y="46655"/>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ight Triangle 15">
            <a:extLst>
              <a:ext uri="{FF2B5EF4-FFF2-40B4-BE49-F238E27FC236}">
                <a16:creationId xmlns:a16="http://schemas.microsoft.com/office/drawing/2014/main" id="{0CED6CA4-FD69-211D-EF38-20B6AFCC362E}"/>
              </a:ext>
            </a:extLst>
          </p:cNvPr>
          <p:cNvSpPr/>
          <p:nvPr/>
        </p:nvSpPr>
        <p:spPr>
          <a:xfrm>
            <a:off x="0" y="5169159"/>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C9C0CC38-26E0-4A4C-D192-F7A64215D607}"/>
              </a:ext>
            </a:extLst>
          </p:cNvPr>
          <p:cNvSpPr txBox="1"/>
          <p:nvPr/>
        </p:nvSpPr>
        <p:spPr>
          <a:xfrm>
            <a:off x="74644" y="205274"/>
            <a:ext cx="4024820" cy="461665"/>
          </a:xfrm>
          <a:prstGeom prst="rect">
            <a:avLst/>
          </a:prstGeom>
          <a:noFill/>
        </p:spPr>
        <p:txBody>
          <a:bodyPr wrap="none" rtlCol="0">
            <a:spAutoFit/>
          </a:bodyPr>
          <a:lstStyle>
            <a:defPPr>
              <a:defRPr lang="en-US"/>
            </a:defPPr>
            <a:lvl1pPr>
              <a:defRPr sz="2400" kern="100">
                <a:latin typeface="Arial Black" panose="020B0A04020102020204" pitchFamily="34" charset="0"/>
              </a:defRPr>
            </a:lvl1pPr>
          </a:lstStyle>
          <a:p>
            <a:r>
              <a:rPr lang="en" dirty="0">
                <a:sym typeface="Red Hat Text Light"/>
              </a:rPr>
              <a:t>TABLEAU DASHBOARD</a:t>
            </a:r>
            <a:endParaRPr lang="en-IN" dirty="0"/>
          </a:p>
        </p:txBody>
      </p:sp>
      <p:pic>
        <p:nvPicPr>
          <p:cNvPr id="14" name="Picture 13">
            <a:extLst>
              <a:ext uri="{FF2B5EF4-FFF2-40B4-BE49-F238E27FC236}">
                <a16:creationId xmlns:a16="http://schemas.microsoft.com/office/drawing/2014/main" id="{786768C2-9CDC-4FA2-30F4-434652D103A2}"/>
              </a:ext>
            </a:extLst>
          </p:cNvPr>
          <p:cNvPicPr>
            <a:picLocks noChangeAspect="1"/>
          </p:cNvPicPr>
          <p:nvPr/>
        </p:nvPicPr>
        <p:blipFill>
          <a:blip r:embed="rId2"/>
          <a:stretch>
            <a:fillRect/>
          </a:stretch>
        </p:blipFill>
        <p:spPr>
          <a:xfrm>
            <a:off x="504063" y="994157"/>
            <a:ext cx="11207191" cy="5664017"/>
          </a:xfrm>
          <a:prstGeom prst="rect">
            <a:avLst/>
          </a:prstGeom>
        </p:spPr>
      </p:pic>
      <p:grpSp>
        <p:nvGrpSpPr>
          <p:cNvPr id="17" name="Group 16">
            <a:extLst>
              <a:ext uri="{FF2B5EF4-FFF2-40B4-BE49-F238E27FC236}">
                <a16:creationId xmlns:a16="http://schemas.microsoft.com/office/drawing/2014/main" id="{76BEBEA1-BEF5-778B-989D-24C2A409D861}"/>
              </a:ext>
            </a:extLst>
          </p:cNvPr>
          <p:cNvGrpSpPr/>
          <p:nvPr/>
        </p:nvGrpSpPr>
        <p:grpSpPr>
          <a:xfrm>
            <a:off x="5159" y="746660"/>
            <a:ext cx="4217436" cy="121299"/>
            <a:chOff x="0" y="703912"/>
            <a:chExt cx="4217436" cy="121299"/>
          </a:xfrm>
        </p:grpSpPr>
        <p:sp>
          <p:nvSpPr>
            <p:cNvPr id="18" name="Rectangle 17">
              <a:extLst>
                <a:ext uri="{FF2B5EF4-FFF2-40B4-BE49-F238E27FC236}">
                  <a16:creationId xmlns:a16="http://schemas.microsoft.com/office/drawing/2014/main" id="{AEA7EA3D-E7F5-A5A2-C384-1C16E1E8F478}"/>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01D31497-839F-8FD5-B330-A6403A72D374}"/>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1242FF01-EE5F-0EB4-92D1-691D542C2329}"/>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2" name="Group 21">
            <a:extLst>
              <a:ext uri="{FF2B5EF4-FFF2-40B4-BE49-F238E27FC236}">
                <a16:creationId xmlns:a16="http://schemas.microsoft.com/office/drawing/2014/main" id="{49BF54E2-1226-F0CB-D3F0-3E3A3D2B3108}"/>
              </a:ext>
            </a:extLst>
          </p:cNvPr>
          <p:cNvGrpSpPr/>
          <p:nvPr/>
        </p:nvGrpSpPr>
        <p:grpSpPr>
          <a:xfrm rot="10800000">
            <a:off x="7968148" y="355"/>
            <a:ext cx="4217436" cy="121299"/>
            <a:chOff x="0" y="703912"/>
            <a:chExt cx="4217436" cy="121299"/>
          </a:xfrm>
        </p:grpSpPr>
        <p:sp>
          <p:nvSpPr>
            <p:cNvPr id="23" name="Rectangle 22">
              <a:extLst>
                <a:ext uri="{FF2B5EF4-FFF2-40B4-BE49-F238E27FC236}">
                  <a16:creationId xmlns:a16="http://schemas.microsoft.com/office/drawing/2014/main" id="{271DEAFD-E974-2996-A749-0432101BCAD8}"/>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B36A97D9-DE97-1615-5729-CC05CC0541C0}"/>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C5B39B29-C620-5AB6-A4B7-D0E063C60506}"/>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903167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ight Triangle 15">
            <a:extLst>
              <a:ext uri="{FF2B5EF4-FFF2-40B4-BE49-F238E27FC236}">
                <a16:creationId xmlns:a16="http://schemas.microsoft.com/office/drawing/2014/main" id="{92655EFE-EF84-9D08-D73C-9BDCDE2AAE3A}"/>
              </a:ext>
            </a:extLst>
          </p:cNvPr>
          <p:cNvSpPr/>
          <p:nvPr/>
        </p:nvSpPr>
        <p:spPr>
          <a:xfrm rot="10800000">
            <a:off x="10475167" y="46655"/>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ight Triangle 16">
            <a:extLst>
              <a:ext uri="{FF2B5EF4-FFF2-40B4-BE49-F238E27FC236}">
                <a16:creationId xmlns:a16="http://schemas.microsoft.com/office/drawing/2014/main" id="{1FF084CC-87C5-63E6-1E46-D151F8BDF7AF}"/>
              </a:ext>
            </a:extLst>
          </p:cNvPr>
          <p:cNvSpPr/>
          <p:nvPr/>
        </p:nvSpPr>
        <p:spPr>
          <a:xfrm>
            <a:off x="0" y="5169159"/>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C9C0CC38-26E0-4A4C-D192-F7A64215D607}"/>
              </a:ext>
            </a:extLst>
          </p:cNvPr>
          <p:cNvSpPr txBox="1"/>
          <p:nvPr/>
        </p:nvSpPr>
        <p:spPr>
          <a:xfrm>
            <a:off x="74644" y="205274"/>
            <a:ext cx="4024820" cy="461665"/>
          </a:xfrm>
          <a:prstGeom prst="rect">
            <a:avLst/>
          </a:prstGeom>
          <a:noFill/>
        </p:spPr>
        <p:txBody>
          <a:bodyPr wrap="none" rtlCol="0">
            <a:spAutoFit/>
          </a:bodyPr>
          <a:lstStyle/>
          <a:p>
            <a:r>
              <a:rPr lang="en" sz="2400" kern="100" dirty="0">
                <a:latin typeface="Arial Black" panose="020B0A04020102020204" pitchFamily="34" charset="0"/>
                <a:sym typeface="Red Hat Text Light"/>
              </a:rPr>
              <a:t>TABLEAU DASHBOARD</a:t>
            </a:r>
            <a:endParaRPr lang="en-IN" sz="2400" kern="100" dirty="0">
              <a:latin typeface="Arial Black" panose="020B0A04020102020204" pitchFamily="34" charset="0"/>
            </a:endParaRPr>
          </a:p>
        </p:txBody>
      </p:sp>
      <p:pic>
        <p:nvPicPr>
          <p:cNvPr id="15" name="Picture 14">
            <a:extLst>
              <a:ext uri="{FF2B5EF4-FFF2-40B4-BE49-F238E27FC236}">
                <a16:creationId xmlns:a16="http://schemas.microsoft.com/office/drawing/2014/main" id="{0FFBBC51-5A7E-C68C-4244-8B891A3B609E}"/>
              </a:ext>
            </a:extLst>
          </p:cNvPr>
          <p:cNvPicPr>
            <a:picLocks noChangeAspect="1"/>
          </p:cNvPicPr>
          <p:nvPr/>
        </p:nvPicPr>
        <p:blipFill>
          <a:blip r:embed="rId2"/>
          <a:stretch>
            <a:fillRect/>
          </a:stretch>
        </p:blipFill>
        <p:spPr>
          <a:xfrm>
            <a:off x="504064" y="994157"/>
            <a:ext cx="11207190" cy="5658569"/>
          </a:xfrm>
          <a:prstGeom prst="rect">
            <a:avLst/>
          </a:prstGeom>
        </p:spPr>
      </p:pic>
      <p:grpSp>
        <p:nvGrpSpPr>
          <p:cNvPr id="18" name="Group 17">
            <a:extLst>
              <a:ext uri="{FF2B5EF4-FFF2-40B4-BE49-F238E27FC236}">
                <a16:creationId xmlns:a16="http://schemas.microsoft.com/office/drawing/2014/main" id="{A3F40560-18E5-2416-A8F0-1527507405DB}"/>
              </a:ext>
            </a:extLst>
          </p:cNvPr>
          <p:cNvGrpSpPr/>
          <p:nvPr/>
        </p:nvGrpSpPr>
        <p:grpSpPr>
          <a:xfrm>
            <a:off x="5159" y="746660"/>
            <a:ext cx="4217436" cy="121299"/>
            <a:chOff x="0" y="703912"/>
            <a:chExt cx="4217436" cy="121299"/>
          </a:xfrm>
        </p:grpSpPr>
        <p:sp>
          <p:nvSpPr>
            <p:cNvPr id="19" name="Rectangle 18">
              <a:extLst>
                <a:ext uri="{FF2B5EF4-FFF2-40B4-BE49-F238E27FC236}">
                  <a16:creationId xmlns:a16="http://schemas.microsoft.com/office/drawing/2014/main" id="{795BB568-BA24-20A5-A25E-A340C6C0F12D}"/>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376E3F7A-C018-9D53-4723-D1F4C9E0E6D8}"/>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D61326EF-F56D-DA2F-42EA-5590BB6F0BB8}"/>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2" name="Group 21">
            <a:extLst>
              <a:ext uri="{FF2B5EF4-FFF2-40B4-BE49-F238E27FC236}">
                <a16:creationId xmlns:a16="http://schemas.microsoft.com/office/drawing/2014/main" id="{00AA79DD-7E43-AA56-FC9B-121D8ED2DB39}"/>
              </a:ext>
            </a:extLst>
          </p:cNvPr>
          <p:cNvGrpSpPr/>
          <p:nvPr/>
        </p:nvGrpSpPr>
        <p:grpSpPr>
          <a:xfrm rot="10800000">
            <a:off x="7968148" y="355"/>
            <a:ext cx="4217436" cy="121299"/>
            <a:chOff x="0" y="703912"/>
            <a:chExt cx="4217436" cy="121299"/>
          </a:xfrm>
        </p:grpSpPr>
        <p:sp>
          <p:nvSpPr>
            <p:cNvPr id="23" name="Rectangle 22">
              <a:extLst>
                <a:ext uri="{FF2B5EF4-FFF2-40B4-BE49-F238E27FC236}">
                  <a16:creationId xmlns:a16="http://schemas.microsoft.com/office/drawing/2014/main" id="{FE5378D6-93E3-69F1-A609-58ABB37EDD9C}"/>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571F26CA-D156-5022-96F5-32CEC2F91A5B}"/>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DA1D5429-E89A-096A-8422-42FF3BF914FF}"/>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79599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9C0CC38-26E0-4A4C-D192-F7A64215D607}"/>
              </a:ext>
            </a:extLst>
          </p:cNvPr>
          <p:cNvSpPr txBox="1"/>
          <p:nvPr/>
        </p:nvSpPr>
        <p:spPr>
          <a:xfrm>
            <a:off x="74644" y="205274"/>
            <a:ext cx="3135667" cy="461665"/>
          </a:xfrm>
          <a:prstGeom prst="rect">
            <a:avLst/>
          </a:prstGeom>
          <a:noFill/>
        </p:spPr>
        <p:txBody>
          <a:bodyPr wrap="none" rtlCol="0">
            <a:spAutoFit/>
          </a:bodyPr>
          <a:lstStyle/>
          <a:p>
            <a:r>
              <a:rPr lang="en" sz="2400" kern="100" dirty="0">
                <a:latin typeface="Arial Black" panose="020B0A04020102020204" pitchFamily="34" charset="0"/>
                <a:sym typeface="Red Hat Text Light"/>
              </a:rPr>
              <a:t>KEY TAKEAWAYS</a:t>
            </a:r>
            <a:endParaRPr lang="en-IN" sz="2400" kern="100" dirty="0">
              <a:latin typeface="Arial Black" panose="020B0A04020102020204" pitchFamily="34" charset="0"/>
            </a:endParaRPr>
          </a:p>
        </p:txBody>
      </p:sp>
      <p:sp>
        <p:nvSpPr>
          <p:cNvPr id="13" name="Content Placeholder 15">
            <a:extLst>
              <a:ext uri="{FF2B5EF4-FFF2-40B4-BE49-F238E27FC236}">
                <a16:creationId xmlns:a16="http://schemas.microsoft.com/office/drawing/2014/main" id="{5E0E46B6-86E7-4D98-074E-3173D59B3D9A}"/>
              </a:ext>
            </a:extLst>
          </p:cNvPr>
          <p:cNvSpPr txBox="1">
            <a:spLocks/>
          </p:cNvSpPr>
          <p:nvPr/>
        </p:nvSpPr>
        <p:spPr>
          <a:xfrm>
            <a:off x="429202" y="1197007"/>
            <a:ext cx="11330676" cy="495708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800" b="1" dirty="0"/>
              <a:t>Trend Analysis (2016-2020)</a:t>
            </a:r>
            <a:r>
              <a:rPr lang="en-US" sz="1800" dirty="0"/>
              <a:t>: Both bad debts and charity care for California hospitals peaked in 2019 before experiencing a sharp decline in 2020, possibly due to the impacts of the COVID-19 pandemic.</a:t>
            </a:r>
          </a:p>
          <a:p>
            <a:pPr>
              <a:lnSpc>
                <a:spcPct val="150000"/>
              </a:lnSpc>
            </a:pPr>
            <a:r>
              <a:rPr lang="en-US" sz="1800" b="1" dirty="0"/>
              <a:t>Yearly Distribution</a:t>
            </a:r>
            <a:r>
              <a:rPr lang="en-US" sz="1800" dirty="0"/>
              <a:t>: The pie chart shows a notable spike in 2017 for a specific metric, followed by a steady decline, with the most significant drop in 2020, indicating a possible global disruption.</a:t>
            </a:r>
          </a:p>
          <a:p>
            <a:pPr>
              <a:lnSpc>
                <a:spcPct val="150000"/>
              </a:lnSpc>
            </a:pPr>
            <a:r>
              <a:rPr lang="en-US" sz="1800" b="1" dirty="0"/>
              <a:t>City-Wise Bed Availability:</a:t>
            </a:r>
            <a:r>
              <a:rPr lang="en-US" sz="1800" dirty="0"/>
              <a:t> Los Angeles has the highest number of available hospital beds (103K), far surpassing other top cities like Oakland (70K) and San Francisco (56K).</a:t>
            </a:r>
          </a:p>
          <a:p>
            <a:pPr>
              <a:lnSpc>
                <a:spcPct val="150000"/>
              </a:lnSpc>
            </a:pPr>
            <a:r>
              <a:rPr lang="en-US" sz="1800" b="1" dirty="0"/>
              <a:t>Healthcare Capacity</a:t>
            </a:r>
            <a:r>
              <a:rPr lang="en-US" sz="1800" dirty="0"/>
              <a:t>: The varying bed availability across major cities underscores the importance of resource allocation, especially in times of increased demand, such as during health crises.</a:t>
            </a:r>
          </a:p>
          <a:p>
            <a:pPr>
              <a:lnSpc>
                <a:spcPct val="150000"/>
              </a:lnSpc>
            </a:pPr>
            <a:r>
              <a:rPr lang="en-US" sz="1800" b="1" dirty="0"/>
              <a:t>Pandemic Impact</a:t>
            </a:r>
            <a:r>
              <a:rPr lang="en-US" sz="1800" dirty="0"/>
              <a:t>: The significant drops in metrics in 2020 across multiple charts suggest the extensive impact of the global COVID-19 pandemic on healthcare systems and associated financials.</a:t>
            </a:r>
            <a:endParaRPr lang="en-IN" sz="1800" dirty="0"/>
          </a:p>
        </p:txBody>
      </p:sp>
      <p:sp>
        <p:nvSpPr>
          <p:cNvPr id="14" name="Right Triangle 13">
            <a:extLst>
              <a:ext uri="{FF2B5EF4-FFF2-40B4-BE49-F238E27FC236}">
                <a16:creationId xmlns:a16="http://schemas.microsoft.com/office/drawing/2014/main" id="{AA262940-C848-BF1A-9A0D-BC8C475443FE}"/>
              </a:ext>
            </a:extLst>
          </p:cNvPr>
          <p:cNvSpPr/>
          <p:nvPr/>
        </p:nvSpPr>
        <p:spPr>
          <a:xfrm rot="10800000">
            <a:off x="10475167" y="46655"/>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ight Triangle 15">
            <a:extLst>
              <a:ext uri="{FF2B5EF4-FFF2-40B4-BE49-F238E27FC236}">
                <a16:creationId xmlns:a16="http://schemas.microsoft.com/office/drawing/2014/main" id="{69BDEDEA-6566-F790-087E-B2E3D561A45C}"/>
              </a:ext>
            </a:extLst>
          </p:cNvPr>
          <p:cNvSpPr/>
          <p:nvPr/>
        </p:nvSpPr>
        <p:spPr>
          <a:xfrm>
            <a:off x="0" y="5169159"/>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7" name="Group 16">
            <a:extLst>
              <a:ext uri="{FF2B5EF4-FFF2-40B4-BE49-F238E27FC236}">
                <a16:creationId xmlns:a16="http://schemas.microsoft.com/office/drawing/2014/main" id="{6292A184-A227-5ED9-8EAB-0D0B558BE2F6}"/>
              </a:ext>
            </a:extLst>
          </p:cNvPr>
          <p:cNvGrpSpPr/>
          <p:nvPr/>
        </p:nvGrpSpPr>
        <p:grpSpPr>
          <a:xfrm>
            <a:off x="5159" y="746660"/>
            <a:ext cx="4217436" cy="121299"/>
            <a:chOff x="0" y="703912"/>
            <a:chExt cx="4217436" cy="121299"/>
          </a:xfrm>
        </p:grpSpPr>
        <p:sp>
          <p:nvSpPr>
            <p:cNvPr id="18" name="Rectangle 17">
              <a:extLst>
                <a:ext uri="{FF2B5EF4-FFF2-40B4-BE49-F238E27FC236}">
                  <a16:creationId xmlns:a16="http://schemas.microsoft.com/office/drawing/2014/main" id="{5FD38235-0DEE-576B-1498-5A30CFF30FEA}"/>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3CFB02BA-A90C-FD02-EC56-1E098DDC99A7}"/>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61995FF5-D232-566B-4ECF-43A1101864F6}"/>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1" name="Group 20">
            <a:extLst>
              <a:ext uri="{FF2B5EF4-FFF2-40B4-BE49-F238E27FC236}">
                <a16:creationId xmlns:a16="http://schemas.microsoft.com/office/drawing/2014/main" id="{BA7669C6-D903-95A9-91DD-547F5B250278}"/>
              </a:ext>
            </a:extLst>
          </p:cNvPr>
          <p:cNvGrpSpPr/>
          <p:nvPr/>
        </p:nvGrpSpPr>
        <p:grpSpPr>
          <a:xfrm rot="10800000">
            <a:off x="7968148" y="355"/>
            <a:ext cx="4217436" cy="121299"/>
            <a:chOff x="0" y="703912"/>
            <a:chExt cx="4217436" cy="121299"/>
          </a:xfrm>
        </p:grpSpPr>
        <p:sp>
          <p:nvSpPr>
            <p:cNvPr id="22" name="Rectangle 21">
              <a:extLst>
                <a:ext uri="{FF2B5EF4-FFF2-40B4-BE49-F238E27FC236}">
                  <a16:creationId xmlns:a16="http://schemas.microsoft.com/office/drawing/2014/main" id="{18914796-7306-BABC-0EE6-15BF645AFAB5}"/>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EB60B317-3072-8462-BE45-2A3D8D210E44}"/>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272C6DDB-2D6C-7B11-0425-E4C40598E804}"/>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944109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9C0CC38-26E0-4A4C-D192-F7A64215D607}"/>
              </a:ext>
            </a:extLst>
          </p:cNvPr>
          <p:cNvSpPr txBox="1"/>
          <p:nvPr/>
        </p:nvSpPr>
        <p:spPr>
          <a:xfrm>
            <a:off x="74644" y="205274"/>
            <a:ext cx="2485039" cy="461665"/>
          </a:xfrm>
          <a:prstGeom prst="rect">
            <a:avLst/>
          </a:prstGeom>
          <a:noFill/>
        </p:spPr>
        <p:txBody>
          <a:bodyPr wrap="none" rtlCol="0">
            <a:spAutoFit/>
          </a:bodyPr>
          <a:lstStyle/>
          <a:p>
            <a:r>
              <a:rPr lang="en" sz="2400" kern="100" dirty="0">
                <a:latin typeface="Arial Black" panose="020B0A04020102020204" pitchFamily="34" charset="0"/>
                <a:sym typeface="Red Hat Text Light"/>
              </a:rPr>
              <a:t>CONCLUSION</a:t>
            </a:r>
            <a:endParaRPr lang="en-IN" sz="2400" kern="100" dirty="0">
              <a:latin typeface="Arial Black" panose="020B0A04020102020204" pitchFamily="34" charset="0"/>
            </a:endParaRPr>
          </a:p>
        </p:txBody>
      </p:sp>
      <p:sp>
        <p:nvSpPr>
          <p:cNvPr id="14" name="Content Placeholder 2">
            <a:extLst>
              <a:ext uri="{FF2B5EF4-FFF2-40B4-BE49-F238E27FC236}">
                <a16:creationId xmlns:a16="http://schemas.microsoft.com/office/drawing/2014/main" id="{4630026A-D89E-E892-2285-4182BCE039BA}"/>
              </a:ext>
            </a:extLst>
          </p:cNvPr>
          <p:cNvSpPr txBox="1">
            <a:spLocks/>
          </p:cNvSpPr>
          <p:nvPr/>
        </p:nvSpPr>
        <p:spPr>
          <a:xfrm>
            <a:off x="349553" y="1595792"/>
            <a:ext cx="9733729" cy="32771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1800" dirty="0"/>
              <a:t>The data reveals a significant impact of the COVID-19 pandemic on healthcare metrics, with sharp declines in both financial and operational figures in 2020. </a:t>
            </a:r>
          </a:p>
          <a:p>
            <a:pPr>
              <a:lnSpc>
                <a:spcPct val="150000"/>
              </a:lnSpc>
            </a:pPr>
            <a:r>
              <a:rPr lang="en-US" sz="1800" dirty="0"/>
              <a:t>The disparities in bed availability across major cities emphasize the critical need for strategic resource management in healthcare to better respond to crises.</a:t>
            </a:r>
            <a:endParaRPr lang="en-IN" sz="1800" dirty="0"/>
          </a:p>
        </p:txBody>
      </p:sp>
      <p:sp>
        <p:nvSpPr>
          <p:cNvPr id="15" name="Right Triangle 14">
            <a:extLst>
              <a:ext uri="{FF2B5EF4-FFF2-40B4-BE49-F238E27FC236}">
                <a16:creationId xmlns:a16="http://schemas.microsoft.com/office/drawing/2014/main" id="{2A472555-18BC-76FD-C6CB-D861D6559F15}"/>
              </a:ext>
            </a:extLst>
          </p:cNvPr>
          <p:cNvSpPr/>
          <p:nvPr/>
        </p:nvSpPr>
        <p:spPr>
          <a:xfrm rot="10800000">
            <a:off x="10475167" y="46655"/>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ight Triangle 15">
            <a:extLst>
              <a:ext uri="{FF2B5EF4-FFF2-40B4-BE49-F238E27FC236}">
                <a16:creationId xmlns:a16="http://schemas.microsoft.com/office/drawing/2014/main" id="{2E0B0639-3EC2-10F6-7471-0F7BD7A15F0E}"/>
              </a:ext>
            </a:extLst>
          </p:cNvPr>
          <p:cNvSpPr/>
          <p:nvPr/>
        </p:nvSpPr>
        <p:spPr>
          <a:xfrm>
            <a:off x="0" y="5169159"/>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7" name="Group 16">
            <a:extLst>
              <a:ext uri="{FF2B5EF4-FFF2-40B4-BE49-F238E27FC236}">
                <a16:creationId xmlns:a16="http://schemas.microsoft.com/office/drawing/2014/main" id="{772E957A-6778-E0B8-54D2-233689DCDD12}"/>
              </a:ext>
            </a:extLst>
          </p:cNvPr>
          <p:cNvGrpSpPr/>
          <p:nvPr/>
        </p:nvGrpSpPr>
        <p:grpSpPr>
          <a:xfrm>
            <a:off x="5159" y="746660"/>
            <a:ext cx="4217436" cy="121299"/>
            <a:chOff x="0" y="703912"/>
            <a:chExt cx="4217436" cy="121299"/>
          </a:xfrm>
        </p:grpSpPr>
        <p:sp>
          <p:nvSpPr>
            <p:cNvPr id="18" name="Rectangle 17">
              <a:extLst>
                <a:ext uri="{FF2B5EF4-FFF2-40B4-BE49-F238E27FC236}">
                  <a16:creationId xmlns:a16="http://schemas.microsoft.com/office/drawing/2014/main" id="{3CA57BFD-40A5-FD30-A05D-364D17BE573C}"/>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87E1A4F0-B144-5E27-C0E1-6EB3240F0D79}"/>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BE146052-0BAE-F2AD-CB0C-FD2981733A80}"/>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1" name="Group 20">
            <a:extLst>
              <a:ext uri="{FF2B5EF4-FFF2-40B4-BE49-F238E27FC236}">
                <a16:creationId xmlns:a16="http://schemas.microsoft.com/office/drawing/2014/main" id="{F6A79FE3-B0EF-2EF4-5C4A-C4462FE76856}"/>
              </a:ext>
            </a:extLst>
          </p:cNvPr>
          <p:cNvGrpSpPr/>
          <p:nvPr/>
        </p:nvGrpSpPr>
        <p:grpSpPr>
          <a:xfrm rot="10800000">
            <a:off x="7968148" y="355"/>
            <a:ext cx="4217436" cy="121299"/>
            <a:chOff x="0" y="703912"/>
            <a:chExt cx="4217436" cy="121299"/>
          </a:xfrm>
        </p:grpSpPr>
        <p:sp>
          <p:nvSpPr>
            <p:cNvPr id="22" name="Rectangle 21">
              <a:extLst>
                <a:ext uri="{FF2B5EF4-FFF2-40B4-BE49-F238E27FC236}">
                  <a16:creationId xmlns:a16="http://schemas.microsoft.com/office/drawing/2014/main" id="{7552A653-79B1-9E81-8189-A653E1CDF77C}"/>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A565A967-9756-0758-E29D-84FE09BFC53C}"/>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CC6BCE24-C683-C9D2-92CD-B743CB8CC3F1}"/>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736075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C3A9BAE-E4B0-150D-0195-FDE199113BDA}"/>
              </a:ext>
            </a:extLst>
          </p:cNvPr>
          <p:cNvSpPr txBox="1"/>
          <p:nvPr/>
        </p:nvSpPr>
        <p:spPr>
          <a:xfrm>
            <a:off x="4048342" y="3044279"/>
            <a:ext cx="4137636" cy="1015663"/>
          </a:xfrm>
          <a:prstGeom prst="rect">
            <a:avLst/>
          </a:prstGeom>
          <a:noFill/>
        </p:spPr>
        <p:txBody>
          <a:bodyPr wrap="square" rtlCol="0">
            <a:spAutoFit/>
          </a:bodyPr>
          <a:lstStyle/>
          <a:p>
            <a:r>
              <a:rPr lang="en-US" sz="6000" b="1" i="1" dirty="0"/>
              <a:t>THANK YOU</a:t>
            </a:r>
            <a:endParaRPr lang="en-IN" sz="6000" b="1" i="1" dirty="0"/>
          </a:p>
        </p:txBody>
      </p:sp>
      <p:sp>
        <p:nvSpPr>
          <p:cNvPr id="12" name="Right Triangle 11">
            <a:extLst>
              <a:ext uri="{FF2B5EF4-FFF2-40B4-BE49-F238E27FC236}">
                <a16:creationId xmlns:a16="http://schemas.microsoft.com/office/drawing/2014/main" id="{2727FBEF-FE65-3C39-A4D4-573E21FC08E1}"/>
              </a:ext>
            </a:extLst>
          </p:cNvPr>
          <p:cNvSpPr/>
          <p:nvPr/>
        </p:nvSpPr>
        <p:spPr>
          <a:xfrm rot="10800000">
            <a:off x="10475167" y="46655"/>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ight Triangle 13">
            <a:extLst>
              <a:ext uri="{FF2B5EF4-FFF2-40B4-BE49-F238E27FC236}">
                <a16:creationId xmlns:a16="http://schemas.microsoft.com/office/drawing/2014/main" id="{BBFA6B14-9FB7-0009-26FF-39BCEDFA9855}"/>
              </a:ext>
            </a:extLst>
          </p:cNvPr>
          <p:cNvSpPr/>
          <p:nvPr/>
        </p:nvSpPr>
        <p:spPr>
          <a:xfrm>
            <a:off x="0" y="5169159"/>
            <a:ext cx="1716833" cy="1688841"/>
          </a:xfrm>
          <a:prstGeom prst="rtTriangle">
            <a:avLst/>
          </a:prstGeom>
          <a:solidFill>
            <a:srgbClr val="F8DFC1"/>
          </a:solidFill>
          <a:ln>
            <a:solidFill>
              <a:srgbClr val="F8DF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 name="Group 14">
            <a:extLst>
              <a:ext uri="{FF2B5EF4-FFF2-40B4-BE49-F238E27FC236}">
                <a16:creationId xmlns:a16="http://schemas.microsoft.com/office/drawing/2014/main" id="{497253E3-60AE-A7EA-507E-F1E4EDE2F21F}"/>
              </a:ext>
            </a:extLst>
          </p:cNvPr>
          <p:cNvGrpSpPr/>
          <p:nvPr/>
        </p:nvGrpSpPr>
        <p:grpSpPr>
          <a:xfrm>
            <a:off x="5159" y="746660"/>
            <a:ext cx="4217436" cy="121299"/>
            <a:chOff x="0" y="703912"/>
            <a:chExt cx="4217436" cy="121299"/>
          </a:xfrm>
        </p:grpSpPr>
        <p:sp>
          <p:nvSpPr>
            <p:cNvPr id="16" name="Rectangle 15">
              <a:extLst>
                <a:ext uri="{FF2B5EF4-FFF2-40B4-BE49-F238E27FC236}">
                  <a16:creationId xmlns:a16="http://schemas.microsoft.com/office/drawing/2014/main" id="{26297AF1-8426-6CF4-2096-5EB0D95B8910}"/>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48B84CF7-39D8-B9FA-D66E-CC1B39C0055E}"/>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8D7AE529-2FCD-F3A3-5B52-15052221A1C8}"/>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9" name="Group 18">
            <a:extLst>
              <a:ext uri="{FF2B5EF4-FFF2-40B4-BE49-F238E27FC236}">
                <a16:creationId xmlns:a16="http://schemas.microsoft.com/office/drawing/2014/main" id="{6F108E96-3159-56CE-B746-701334472A8A}"/>
              </a:ext>
            </a:extLst>
          </p:cNvPr>
          <p:cNvGrpSpPr/>
          <p:nvPr/>
        </p:nvGrpSpPr>
        <p:grpSpPr>
          <a:xfrm rot="10800000">
            <a:off x="7968148" y="355"/>
            <a:ext cx="4217436" cy="121299"/>
            <a:chOff x="0" y="703912"/>
            <a:chExt cx="4217436" cy="121299"/>
          </a:xfrm>
        </p:grpSpPr>
        <p:sp>
          <p:nvSpPr>
            <p:cNvPr id="20" name="Rectangle 19">
              <a:extLst>
                <a:ext uri="{FF2B5EF4-FFF2-40B4-BE49-F238E27FC236}">
                  <a16:creationId xmlns:a16="http://schemas.microsoft.com/office/drawing/2014/main" id="{E6E4BC3A-E00A-0173-1D12-8B80E5C7A8F9}"/>
                </a:ext>
              </a:extLst>
            </p:cNvPr>
            <p:cNvSpPr/>
            <p:nvPr/>
          </p:nvSpPr>
          <p:spPr>
            <a:xfrm>
              <a:off x="0" y="703913"/>
              <a:ext cx="2108718" cy="121298"/>
            </a:xfrm>
            <a:prstGeom prst="rect">
              <a:avLst/>
            </a:prstGeom>
            <a:solidFill>
              <a:srgbClr val="FCB88E"/>
            </a:solidFill>
            <a:ln>
              <a:solidFill>
                <a:srgbClr val="FCB8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1E73879C-EF96-F062-F706-8CD504D28CD0}"/>
                </a:ext>
              </a:extLst>
            </p:cNvPr>
            <p:cNvSpPr/>
            <p:nvPr/>
          </p:nvSpPr>
          <p:spPr>
            <a:xfrm>
              <a:off x="2108718" y="703912"/>
              <a:ext cx="1399591" cy="121299"/>
            </a:xfrm>
            <a:prstGeom prst="rect">
              <a:avLst/>
            </a:prstGeom>
            <a:solidFill>
              <a:srgbClr val="DF7B53"/>
            </a:solidFill>
            <a:ln>
              <a:solidFill>
                <a:srgbClr val="DF7B5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C0083E5A-FB91-43FC-8B8A-66FAB50A4DED}"/>
                </a:ext>
              </a:extLst>
            </p:cNvPr>
            <p:cNvSpPr/>
            <p:nvPr/>
          </p:nvSpPr>
          <p:spPr>
            <a:xfrm>
              <a:off x="3503644" y="703913"/>
              <a:ext cx="713792" cy="121298"/>
            </a:xfrm>
            <a:prstGeom prst="rect">
              <a:avLst/>
            </a:prstGeom>
            <a:solidFill>
              <a:srgbClr val="D5B8EA"/>
            </a:solidFill>
            <a:ln>
              <a:solidFill>
                <a:srgbClr val="D5B8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430289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556</Words>
  <Application>Microsoft Office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Calibri Light</vt:lpstr>
      <vt:lpstr>Red Hat Text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harish bangera</dc:creator>
  <cp:lastModifiedBy>NIKHIL JANGIR</cp:lastModifiedBy>
  <cp:revision>9</cp:revision>
  <dcterms:created xsi:type="dcterms:W3CDTF">2024-08-16T09:41:01Z</dcterms:created>
  <dcterms:modified xsi:type="dcterms:W3CDTF">2026-03-28T16:32:44Z</dcterms:modified>
</cp:coreProperties>
</file>